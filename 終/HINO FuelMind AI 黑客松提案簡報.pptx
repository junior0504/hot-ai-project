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Noto Sans TC" panose="020B0200000000000000" pitchFamily="34" charset="-120"/>
      <p:regular r:id="rId18"/>
      <p:bold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072383"/>
            <a:ext cx="5334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214116"/>
            <a:ext cx="1569987" cy="247650"/>
          </a:xfrm>
          <a:prstGeom prst="roundRect">
            <a:avLst>
              <a:gd name="adj" fmla="val 15384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2690366"/>
            <a:ext cx="11430000" cy="59144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sz="4050" b="1" i="0" u="none">
                <a:solidFill>
                  <a:srgbClr val="F8FAFC"/>
                </a:solidFill>
                <a:latin typeface="Noto Sans TC"/>
              </a:rPr>
              <a:t>HINO FuelMind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434208"/>
            <a:ext cx="114300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CBD5E1"/>
                </a:solidFill>
                <a:latin typeface="Noto Sans TC"/>
              </a:rPr>
              <a:t>商用車車隊「省油 × 安全」協同智慧夥伴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415283"/>
            <a:ext cx="11430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4A3B8"/>
                </a:solidFill>
                <a:latin typeface="Noto Sans TC"/>
              </a:rPr>
              <a:t>以 49.3 萬筆真實車聯網數據驗證：讓 iTRAQ 靜態報表進化為雙向閉環協同體系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252216"/>
            <a:ext cx="143663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Noto Sans TC"/>
              </a:rPr>
              <a:t>2026 和泰 AI 黑客松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6287" y="2237928"/>
            <a:ext cx="336593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Noto Sans TC"/>
              </a:rPr>
              <a:t>HINO x GenAI 商用車車聯網大數據出題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83110"/>
            <a:ext cx="5334000" cy="1714500"/>
          </a:xfrm>
          <a:prstGeom prst="roundRect">
            <a:avLst>
              <a:gd name="adj" fmla="val 6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983110"/>
            <a:ext cx="5334000" cy="1714500"/>
          </a:xfrm>
          <a:prstGeom prst="roundRect">
            <a:avLst>
              <a:gd name="adj" fmla="val 6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3364110"/>
            <a:ext cx="177849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Noto Sans TC"/>
              </a:rPr>
              <a:t>01 / 現況痛點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Noto Sans TC"/>
              </a:rPr>
              <a:t>數據庫充沛，決策卻全面滯後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773685"/>
            <a:ext cx="57864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TC"/>
              </a:rPr>
              <a:t>每週面對繁複報表抓不到耗油真凶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116585"/>
            <a:ext cx="57864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TC"/>
              </a:rPr>
              <a:t>難以辨別是司機駕駛習慣抑或站點瓶頸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773685"/>
            <a:ext cx="55911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TC"/>
              </a:rPr>
              <a:t>背負沉重油耗考核卻無當下可執行指引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4116585"/>
            <a:ext cx="55911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TC"/>
              </a:rPr>
              <a:t>行車違規超標往往僅剩事後懲罰與檢討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4174" y="3335535"/>
            <a:ext cx="192524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TC"/>
              </a:rPr>
              <a:t>車隊頭家的困境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5125" y="3335535"/>
            <a:ext cx="22002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TC"/>
              </a:rPr>
              <a:t>第一線駕駛的無奈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16385"/>
            <a:ext cx="10972800" cy="1200150"/>
          </a:xfrm>
          <a:prstGeom prst="roundRect">
            <a:avLst>
              <a:gd name="adj" fmla="val 9523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945135"/>
            <a:ext cx="10972800" cy="1219200"/>
          </a:xfrm>
          <a:prstGeom prst="roundRect">
            <a:avLst>
              <a:gd name="adj" fmla="val 93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Noto Sans TC"/>
              </a:rPr>
              <a:t>02 / 核心洞察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Noto Sans TC"/>
              </a:rPr>
              <a:t>同一趟行程脈絡裡的雙重耗損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3098"/>
            <a:ext cx="1785937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DC2626"/>
                </a:solidFill>
                <a:latin typeface="Noto Sans TC"/>
              </a:rPr>
              <a:t>耗油場景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4321373"/>
            <a:ext cx="1785937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Noto Sans TC"/>
              </a:rPr>
              <a:t>風險場景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9850" y="2821185"/>
            <a:ext cx="95821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991B1B"/>
                </a:solidFill>
                <a:latin typeface="Noto Sans TC"/>
              </a:rPr>
              <a:t>配送裝卸等待造成長時怠速浪費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9850" y="3183135"/>
            <a:ext cx="95821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7F1D1D"/>
                </a:solidFill>
                <a:latin typeface="Noto Sans TC"/>
              </a:rPr>
              <a:t>長怠速是主要能耗漏洞且集中於特定站點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9375" y="4259460"/>
            <a:ext cx="95726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TC"/>
              </a:rPr>
              <a:t>怠速與安全風險高度共伴累積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9375" y="4621410"/>
            <a:ext cx="95726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TC"/>
              </a:rPr>
              <a:t>未繫安全帶與疲勞分心常在同一趟次交織累積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83123"/>
            <a:ext cx="2600325" cy="1514475"/>
          </a:xfrm>
          <a:prstGeom prst="roundRect">
            <a:avLst>
              <a:gd name="adj" fmla="val 62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3183135"/>
            <a:ext cx="2600325" cy="1314450"/>
          </a:xfrm>
          <a:prstGeom prst="roundRect">
            <a:avLst>
              <a:gd name="adj" fmla="val 72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3183135"/>
            <a:ext cx="2600325" cy="1314450"/>
          </a:xfrm>
          <a:prstGeom prst="roundRect">
            <a:avLst>
              <a:gd name="adj" fmla="val 72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3183135"/>
            <a:ext cx="2600325" cy="1314450"/>
          </a:xfrm>
          <a:prstGeom prst="roundRect">
            <a:avLst>
              <a:gd name="adj" fmla="val 72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Noto Sans TC"/>
              </a:rPr>
              <a:t>03 / 資料工程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Noto Sans TC"/>
              </a:rPr>
              <a:t>493,744 筆真實解題數據特徵對齊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549848"/>
            <a:ext cx="2238375" cy="819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C2626"/>
                </a:solidFill>
                <a:latin typeface="Noto Sans TC"/>
              </a:rPr>
              <a:t>精準切分 3,541 趟行程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9025" y="3649860"/>
            <a:ext cx="2238375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C2626"/>
                </a:solidFill>
                <a:latin typeface="Noto Sans TC"/>
              </a:rPr>
              <a:t>識別 2,998 個停靠熱點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850" y="3649860"/>
            <a:ext cx="2238375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C2626"/>
                </a:solidFill>
                <a:latin typeface="Noto Sans TC"/>
              </a:rPr>
              <a:t>總怠速 68,992 採樣點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10675" y="3649860"/>
            <a:ext cx="2238375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C2626"/>
                </a:solidFill>
                <a:latin typeface="Noto Sans TC"/>
              </a:rPr>
              <a:t>解析全量行車安全訊號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321248"/>
            <a:ext cx="2787848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複合行程主鍵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654623"/>
            <a:ext cx="22193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TC"/>
              </a:rPr>
              <a:t>enabledCode 疊加 journeyCode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421260"/>
            <a:ext cx="2787848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DBSCAN 空間聚類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3754635"/>
            <a:ext cx="265509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TC"/>
              </a:rPr>
              <a:t>克服 fenceId 空值限制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3421260"/>
            <a:ext cx="2787848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CAN 燃油狀態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3754635"/>
            <a:ext cx="265509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TC"/>
              </a:rPr>
              <a:t>鎖定 carStatus=2 累積怠速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0200" y="3421260"/>
            <a:ext cx="2787848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多維陣列展開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3754635"/>
            <a:ext cx="265509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TC"/>
              </a:rPr>
              <a:t>展開 event[0..2].type 事件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97298"/>
            <a:ext cx="10972800" cy="981075"/>
          </a:xfrm>
          <a:prstGeom prst="roundRect">
            <a:avLst>
              <a:gd name="adj" fmla="val 97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349823"/>
            <a:ext cx="10972800" cy="981075"/>
          </a:xfrm>
          <a:prstGeom prst="roundRect">
            <a:avLst>
              <a:gd name="adj" fmla="val 97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502348"/>
            <a:ext cx="10972800" cy="981075"/>
          </a:xfrm>
          <a:prstGeom prst="roundRect">
            <a:avLst>
              <a:gd name="adj" fmla="val 97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197298"/>
            <a:ext cx="57150" cy="98107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349823"/>
            <a:ext cx="57150" cy="9810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502348"/>
            <a:ext cx="57150" cy="9810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Noto Sans TC"/>
              </a:rPr>
              <a:t>04 / 解決架構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Noto Sans TC"/>
              </a:rPr>
              <a:t>三層閉環式智慧運作架構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0775" y="2573535"/>
            <a:ext cx="158353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4748B"/>
                </a:solidFill>
                <a:latin typeface="Noto Sans TC"/>
              </a:rPr>
              <a:t>iTRAQ 數據管線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8900" y="3726060"/>
            <a:ext cx="13144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DC2626"/>
                </a:solidFill>
                <a:latin typeface="Noto Sans TC"/>
              </a:rPr>
              <a:t>決策演算核心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39201" y="4878585"/>
            <a:ext cx="154799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TC"/>
              </a:rPr>
              <a:t>GenAI 協同介面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2425898"/>
            <a:ext cx="4050506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基礎層：車聯網特徵工程層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" y="2721173"/>
            <a:ext cx="38576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TC"/>
              </a:rPr>
              <a:t>解析位置軌跡、車輛狀態與多重事件陣列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550" y="3578423"/>
            <a:ext cx="5613396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核心層：雙引擎規則與判斷模型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550" y="3873698"/>
            <a:ext cx="534609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TC"/>
              </a:rPr>
              <a:t>停靠降載預警、同型車 Z-score 能耗異常與安全風險演算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4730948"/>
            <a:ext cx="4275534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交互層：生成式 AI 白話轉譯層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1550" y="5026223"/>
            <a:ext cx="40719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TC"/>
              </a:rPr>
              <a:t>可追溯成因解釋、頭家每日待辦與安全問答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35498"/>
            <a:ext cx="3505200" cy="1609725"/>
          </a:xfrm>
          <a:prstGeom prst="roundRect">
            <a:avLst>
              <a:gd name="adj" fmla="val 71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35498"/>
            <a:ext cx="3505200" cy="1609725"/>
          </a:xfrm>
          <a:prstGeom prst="roundRect">
            <a:avLst>
              <a:gd name="adj" fmla="val 71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35498"/>
            <a:ext cx="3505200" cy="1609725"/>
          </a:xfrm>
          <a:prstGeom prst="roundRect">
            <a:avLst>
              <a:gd name="adj" fmla="val 71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Noto Sans TC"/>
              </a:rPr>
              <a:t>05 / 核心能力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Noto Sans TC"/>
              </a:rPr>
              <a:t>模組 A：AI 動態節能決策夥伴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40298"/>
            <a:ext cx="2990850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C2626"/>
                </a:solidFill>
                <a:latin typeface="Noto Sans TC"/>
              </a:rPr>
              <a:t>3,215 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8200" y="3340298"/>
            <a:ext cx="2990850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C2626"/>
                </a:solidFill>
                <a:latin typeface="Noto Sans TC"/>
              </a:rPr>
              <a:t>145 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0" y="3340298"/>
            <a:ext cx="2990850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C2626"/>
                </a:solidFill>
                <a:latin typeface="Noto Sans TC"/>
              </a:rPr>
              <a:t>24,147 單位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768923"/>
            <a:ext cx="3775471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停靠卸貨降載提示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102298"/>
            <a:ext cx="35956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TC"/>
              </a:rPr>
              <a:t>依歷史時長主動建議熄火待機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768923"/>
            <a:ext cx="3775471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同型車油耗異常監控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4102298"/>
            <a:ext cx="35956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TC"/>
              </a:rPr>
              <a:t>Z-score 偏離者即時標註檢修清單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768923"/>
            <a:ext cx="3775471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可干預怠速空間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4102298"/>
            <a:ext cx="35956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TC"/>
              </a:rPr>
              <a:t>預估可協助車隊降低約 35% 怠速浪費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35498"/>
            <a:ext cx="3505200" cy="1609725"/>
          </a:xfrm>
          <a:prstGeom prst="roundRect">
            <a:avLst>
              <a:gd name="adj" fmla="val 71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35498"/>
            <a:ext cx="3505200" cy="1609725"/>
          </a:xfrm>
          <a:prstGeom prst="roundRect">
            <a:avLst>
              <a:gd name="adj" fmla="val 71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35498"/>
            <a:ext cx="3505200" cy="1609725"/>
          </a:xfrm>
          <a:prstGeom prst="roundRect">
            <a:avLst>
              <a:gd name="adj" fmla="val 71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Noto Sans TC"/>
              </a:rPr>
              <a:t>06 / 核心能力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Noto Sans TC"/>
              </a:rPr>
              <a:t>模組 B：AI 事中安全駕駛教練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40298"/>
            <a:ext cx="2990850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C2626"/>
                </a:solidFill>
                <a:latin typeface="Noto Sans TC"/>
              </a:rPr>
              <a:t>13,726 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8200" y="3340298"/>
            <a:ext cx="2990850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C2626"/>
                </a:solidFill>
                <a:latin typeface="Noto Sans TC"/>
              </a:rPr>
              <a:t>8,176 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0" y="3340298"/>
            <a:ext cx="2990850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C2626"/>
                </a:solidFill>
                <a:latin typeface="Noto Sans TC"/>
              </a:rPr>
              <a:t>42 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768923"/>
            <a:ext cx="3775471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行駛未繫安全帶提醒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102298"/>
            <a:ext cx="35956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TC"/>
              </a:rPr>
              <a:t>行車中立即語音提醒扣緊安全帶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768923"/>
            <a:ext cx="3775471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分心與疲勞防阻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4102298"/>
            <a:ext cx="35956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TC"/>
              </a:rPr>
              <a:t>長時駕駛多重訊號防禦性提醒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768923"/>
            <a:ext cx="3775471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PCS 預防碰撞追蹤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4102298"/>
            <a:ext cx="35956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TC"/>
              </a:rPr>
              <a:t>高風險事件列入頭家優先關注待辦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83110"/>
            <a:ext cx="5334000" cy="1714500"/>
          </a:xfrm>
          <a:prstGeom prst="roundRect">
            <a:avLst>
              <a:gd name="adj" fmla="val 6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983110"/>
            <a:ext cx="5334000" cy="1714500"/>
          </a:xfrm>
          <a:prstGeom prst="roundRect">
            <a:avLst>
              <a:gd name="adj" fmla="val 6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Noto Sans TC"/>
              </a:rPr>
              <a:t>07 / 關鍵技術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Noto Sans TC"/>
              </a:rPr>
              <a:t>可追溯的 GenAI 因果解釋機制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335535"/>
            <a:ext cx="6075759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TC"/>
              </a:rPr>
              <a:t>嚴格杜絕模型幻覺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773685"/>
            <a:ext cx="57864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TC"/>
              </a:rPr>
              <a:t>所有推論皆綁定真實事件碼與感測欄位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116585"/>
            <a:ext cx="578643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TC"/>
              </a:rPr>
              <a:t>不將任何車輛控制權交付給大型語言模型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335535"/>
            <a:ext cx="55911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TC"/>
              </a:rPr>
              <a:t>頭家白話營運摘要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773685"/>
            <a:ext cx="55911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TC"/>
              </a:rPr>
              <a:t>提煉每日三大核心營運待辦事項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4116585"/>
            <a:ext cx="55911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TC"/>
              </a:rPr>
              <a:t>精準定位浪費站點與同型油耗異常車輛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85595" y="2307877"/>
            <a:ext cx="4196804" cy="885825"/>
          </a:xfrm>
          <a:prstGeom prst="roundRect">
            <a:avLst>
              <a:gd name="adj" fmla="val 107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85595" y="3327052"/>
            <a:ext cx="4196804" cy="885825"/>
          </a:xfrm>
          <a:prstGeom prst="roundRect">
            <a:avLst>
              <a:gd name="adj" fmla="val 107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85595" y="4346227"/>
            <a:ext cx="4196804" cy="885825"/>
          </a:xfrm>
          <a:prstGeom prst="roundRect">
            <a:avLst>
              <a:gd name="adj" fmla="val 107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Noto Sans TC"/>
              </a:rPr>
              <a:t>08 / 實機展示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90550"/>
            <a:ext cx="115824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Noto Sans TC"/>
              </a:rPr>
              <a:t>Streamlit 原型：車隊協同智慧戰情室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5620" y="2507902"/>
            <a:ext cx="460637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TC"/>
              </a:rPr>
              <a:t>四項動態營運指標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5620" y="2793652"/>
            <a:ext cx="460637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Noto Sans TC"/>
              </a:rPr>
              <a:t>即時追蹤總行程、長怠速、安全帶違規與異常車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5620" y="3527077"/>
            <a:ext cx="460637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TC"/>
              </a:rPr>
              <a:t>GenAI 每日白話診斷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5620" y="3812827"/>
            <a:ext cx="460637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Noto Sans TC"/>
              </a:rPr>
              <a:t>自動生成節能提醒、檢修待辦與安全教練建議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5620" y="4546252"/>
            <a:ext cx="460637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Noto Sans TC"/>
              </a:rPr>
              <a:t>異常行程即時監控列表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5620" y="4832002"/>
            <a:ext cx="460637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Noto Sans TC"/>
              </a:rPr>
              <a:t>支援頭家點擊篩選與深入單車行程追蹤</a:t>
            </a: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7088F551-E2F1-5849-55EF-AFAF5C12A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61" y="1326583"/>
            <a:ext cx="7058521" cy="44009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67930"/>
            <a:ext cx="5676900" cy="1744860"/>
          </a:xfrm>
          <a:prstGeom prst="roundRect">
            <a:avLst>
              <a:gd name="adj" fmla="val 873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91300" y="2744985"/>
            <a:ext cx="4991100" cy="1019175"/>
          </a:xfrm>
          <a:prstGeom prst="roundRect">
            <a:avLst>
              <a:gd name="adj" fmla="val 93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91300" y="3916560"/>
            <a:ext cx="4991100" cy="1019175"/>
          </a:xfrm>
          <a:prstGeom prst="roundRect">
            <a:avLst>
              <a:gd name="adj" fmla="val 93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Noto Sans TC"/>
              </a:rPr>
              <a:t>09 / 駕駛體驗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Noto Sans TC"/>
              </a:rPr>
              <a:t>零分心車載輕量提醒設計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3310830"/>
            <a:ext cx="50863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F4444"/>
                </a:solidFill>
                <a:latin typeface="Noto Sans TC"/>
              </a:rPr>
              <a:t>停靠狀態：已怠速 8 分鐘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729930"/>
            <a:ext cx="6550818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>
                <a:solidFill>
                  <a:srgbClr val="FFFFFF"/>
                </a:solidFill>
                <a:latin typeface="Noto Sans TC"/>
              </a:rPr>
              <a:t>建議評估熄火降載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4141291"/>
            <a:ext cx="62388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4A3B8"/>
                </a:solidFill>
                <a:latin typeface="Noto Sans TC"/>
              </a:rPr>
              <a:t>此站歷史平均停留十二分鐘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9425" y="2983110"/>
            <a:ext cx="53625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行車中文字鎖定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9425" y="3297435"/>
            <a:ext cx="53625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TC"/>
              </a:rPr>
              <a:t>車速大於零僅提供極簡語音或蜂鳴警示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9425" y="4154685"/>
            <a:ext cx="53625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停靠時開放問答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29425" y="4469010"/>
            <a:ext cx="53625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TC"/>
              </a:rPr>
              <a:t>靜止狀態支援查詢推薦緣由與省油排行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83135"/>
            <a:ext cx="2600325" cy="1314450"/>
          </a:xfrm>
          <a:prstGeom prst="roundRect">
            <a:avLst>
              <a:gd name="adj" fmla="val 72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3068835"/>
            <a:ext cx="2600325" cy="1543050"/>
          </a:xfrm>
          <a:prstGeom prst="roundRect">
            <a:avLst>
              <a:gd name="adj" fmla="val 617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3183135"/>
            <a:ext cx="2600325" cy="1314450"/>
          </a:xfrm>
          <a:prstGeom prst="roundRect">
            <a:avLst>
              <a:gd name="adj" fmla="val 72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3183135"/>
            <a:ext cx="2600325" cy="1314450"/>
          </a:xfrm>
          <a:prstGeom prst="roundRect">
            <a:avLst>
              <a:gd name="adj" fmla="val 724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Noto Sans TC"/>
              </a:rPr>
              <a:t>10 / 實境演練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Noto Sans TC"/>
              </a:rPr>
              <a:t>物流一日配送全流程驗證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411735"/>
            <a:ext cx="22383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DC2626"/>
                </a:solidFill>
                <a:latin typeface="Noto Sans TC"/>
              </a:rPr>
              <a:t>08:45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9025" y="3297435"/>
            <a:ext cx="2238375" cy="1085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DC2626"/>
                </a:solidFill>
                <a:latin typeface="Noto Sans TC"/>
              </a:rPr>
              <a:t>10:20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850" y="3411735"/>
            <a:ext cx="22383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DC2626"/>
                </a:solidFill>
                <a:latin typeface="Noto Sans TC"/>
              </a:rPr>
              <a:t>11:10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10675" y="3411735"/>
            <a:ext cx="22383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DC2626"/>
                </a:solidFill>
                <a:latin typeface="Noto Sans TC"/>
              </a:rPr>
              <a:t>16:00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697485"/>
            <a:ext cx="2787848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站點 A 短停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030860"/>
            <a:ext cx="265509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TC"/>
              </a:rPr>
              <a:t>快速通過不觸發多餘警訊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583185"/>
            <a:ext cx="2787848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國道路段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3916560"/>
            <a:ext cx="22193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TC"/>
              </a:rPr>
              <a:t>行駛未繫安全帶即時語音蜂鳴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3697485"/>
            <a:ext cx="2787848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倉儲長等待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4030860"/>
            <a:ext cx="265509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TC"/>
              </a:rPr>
              <a:t>主動引導降載減少熱損耗油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0200" y="3697485"/>
            <a:ext cx="2787848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回站收班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4030860"/>
            <a:ext cx="265509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TC"/>
              </a:rPr>
              <a:t>自動生成頭家今日三大待辦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65405" y="2179290"/>
            <a:ext cx="3816994" cy="971550"/>
          </a:xfrm>
          <a:prstGeom prst="roundRect">
            <a:avLst>
              <a:gd name="adj" fmla="val 980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65405" y="3284190"/>
            <a:ext cx="3816994" cy="971550"/>
          </a:xfrm>
          <a:prstGeom prst="roundRect">
            <a:avLst>
              <a:gd name="adj" fmla="val 980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65405" y="4389090"/>
            <a:ext cx="3816994" cy="971550"/>
          </a:xfrm>
          <a:prstGeom prst="roundRect">
            <a:avLst>
              <a:gd name="adj" fmla="val 980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1607790"/>
            <a:ext cx="2337196" cy="200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Noto Sans TC"/>
              </a:rPr>
              <a:t>11 / 效益評估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90550"/>
            <a:ext cx="115824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Noto Sans TC"/>
              </a:rPr>
              <a:t>真實資料驗證：節能潛力與安全分佈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5430" y="2379315"/>
            <a:ext cx="4226569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DC2626"/>
                </a:solidFill>
                <a:latin typeface="Noto Sans TC"/>
              </a:rPr>
              <a:t>-35% 怠速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5430" y="2750790"/>
            <a:ext cx="422656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Noto Sans TC"/>
              </a:rPr>
              <a:t>預估可干預減少 2.4 萬單位停靠怠速浪費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5430" y="3484215"/>
            <a:ext cx="4226569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Noto Sans TC"/>
              </a:rPr>
              <a:t>13,726 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5430" y="3855690"/>
            <a:ext cx="422656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Noto Sans TC"/>
              </a:rPr>
              <a:t>安全帶違規由事後懲罰轉為事中即時校正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65430" y="4589115"/>
            <a:ext cx="4226569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DC2626"/>
                </a:solidFill>
                <a:latin typeface="Noto Sans TC"/>
              </a:rPr>
              <a:t>145 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65430" y="4960590"/>
            <a:ext cx="422656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Noto Sans TC"/>
              </a:rPr>
              <a:t>同型車油耗異常提早曝光，預防性檢修</a:t>
            </a: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066323EF-5078-6BB5-0053-76CEEF108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807814"/>
            <a:ext cx="7552944" cy="39071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67450" y="2735460"/>
            <a:ext cx="5314950" cy="1019175"/>
          </a:xfrm>
          <a:prstGeom prst="roundRect">
            <a:avLst>
              <a:gd name="adj" fmla="val 93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67450" y="3926085"/>
            <a:ext cx="5314950" cy="1019175"/>
          </a:xfrm>
          <a:prstGeom prst="roundRect">
            <a:avLst>
              <a:gd name="adj" fmla="val 93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30610"/>
            <a:ext cx="5314950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30610"/>
            <a:ext cx="531495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Noto Sans TC"/>
              </a:rPr>
              <a:t>12 / 落地可行性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Noto Sans TC"/>
              </a:rPr>
              <a:t>無縫融入 HINO 既有車聯網生態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5575" y="2973585"/>
            <a:ext cx="568642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輕量轉接器（Adapter）架構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5575" y="3287910"/>
            <a:ext cx="56864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TC"/>
              </a:rPr>
              <a:t>不更動 iTRAQ 底層架構即可快速掛載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5575" y="4164210"/>
            <a:ext cx="568642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TC"/>
              </a:rPr>
              <a:t>多元通訊渠道發布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5575" y="4478535"/>
            <a:ext cx="56864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TC"/>
              </a:rPr>
              <a:t>支援即時車機語音、LINE Bot 與網頁戰情室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59310"/>
            <a:ext cx="3505200" cy="1562100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59310"/>
            <a:ext cx="3505200" cy="1562100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59310"/>
            <a:ext cx="3505200" cy="1562100"/>
          </a:xfrm>
          <a:prstGeom prst="roundRect">
            <a:avLst>
              <a:gd name="adj" fmla="val 73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Noto Sans TC"/>
              </a:rPr>
              <a:t>13 / 推進時程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Noto Sans TC"/>
              </a:rPr>
              <a:t>產品推進藍圖與競賽規劃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64110"/>
            <a:ext cx="299085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DC2626"/>
                </a:solidFill>
                <a:latin typeface="Noto Sans TC"/>
              </a:rPr>
              <a:t>第一階段（初賽）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8200" y="3364110"/>
            <a:ext cx="299085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DC2626"/>
                </a:solidFill>
                <a:latin typeface="Noto Sans TC"/>
              </a:rPr>
              <a:t>第二階段（決賽）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0" y="3364110"/>
            <a:ext cx="299085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DC2626"/>
                </a:solidFill>
                <a:latin typeface="Noto Sans TC"/>
              </a:rPr>
              <a:t>第三階段（量產）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716535"/>
            <a:ext cx="3775471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TC"/>
              </a:rPr>
              <a:t>真實資料原型成型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078485"/>
            <a:ext cx="35956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TC"/>
              </a:rPr>
              <a:t>解題數據特徵萃取與 Streamlit 戰情室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716535"/>
            <a:ext cx="3775471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TC"/>
              </a:rPr>
              <a:t>時序預測深化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4078485"/>
            <a:ext cx="35956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TC"/>
              </a:rPr>
              <a:t>停靠時長預測模型與多車型參數校正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716535"/>
            <a:ext cx="3775471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TC"/>
              </a:rPr>
              <a:t>實車生態整合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4078485"/>
            <a:ext cx="35956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Noto Sans TC"/>
              </a:rPr>
              <a:t>對接即時串流並導入夥伴車隊實測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67400" y="3634680"/>
            <a:ext cx="4572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921206" y="2013644"/>
            <a:ext cx="2349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DC2626"/>
                </a:solidFill>
                <a:latin typeface="Noto Sans TC"/>
              </a:rPr>
              <a:t>HINO FUELMIND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2835" y="2366069"/>
            <a:ext cx="10626328" cy="10400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095"/>
              </a:lnSpc>
            </a:pPr>
            <a:r>
              <a:rPr sz="3150" b="1" i="0" u="none">
                <a:solidFill>
                  <a:srgbClr val="F8FAFC"/>
                </a:solidFill>
                <a:latin typeface="Noto Sans TC"/>
              </a:rPr>
              <a:t>讓 iTRAQ 從數據資料庫，進化為頭家與駕駛的智慧夥伴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71937" y="3977580"/>
            <a:ext cx="404812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Noto Sans TC"/>
              </a:rPr>
              <a:t>省油有依據・安全看得見・協同更透明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36113" y="4615755"/>
            <a:ext cx="311962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Noto Sans TC"/>
              </a:rPr>
              <a:t>感謝評審聆聽 ｜ 歡迎指教與交流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8107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3464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Noto Sans TC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8225"/>
            <a:ext cx="635812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Noto Sans TC"/>
              </a:rPr>
              <a:t>https://primemovermag.com.au/wp-content/uploads/2026/07/HINO-700-80-copy-750x500.jpg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28725"/>
            <a:ext cx="276336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Noto Sans TC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TC"/>
              </a:rPr>
              <a:t>primemovermag.com.au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336</Words>
  <Application>Microsoft Office PowerPoint</Application>
  <PresentationFormat>寬螢幕</PresentationFormat>
  <Paragraphs>139</Paragraphs>
  <Slides>16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Arial</vt:lpstr>
      <vt:lpstr>Calibri</vt:lpstr>
      <vt:lpstr>Noto Sans TC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林祐頡</dc:creator>
  <cp:keywords/>
  <dc:description>generated using python-pptx</dc:description>
  <cp:lastModifiedBy>祐頡 林</cp:lastModifiedBy>
  <cp:revision>2</cp:revision>
  <dcterms:created xsi:type="dcterms:W3CDTF">2013-01-27T09:14:16Z</dcterms:created>
  <dcterms:modified xsi:type="dcterms:W3CDTF">2026-10-10T14:33:09Z</dcterms:modified>
  <cp:category/>
</cp:coreProperties>
</file>